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3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1433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/>
          <p:nvPr/>
        </p:nvSpPr>
        <p:spPr>
          <a:xfrm>
            <a:off x="502920" y="14173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5200" noProof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Dodis </a:t>
            </a:r>
            <a:r>
              <a:rPr lang="de-DE" sz="5400" dirty="0"/>
              <a:t>D⁴</a:t>
            </a:r>
            <a:r>
              <a:rPr lang="de-DE" sz="5200" noProof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Demo</a:t>
            </a:r>
            <a:endParaRPr lang="de-DE" sz="5200" noProof="0" dirty="0"/>
          </a:p>
        </p:txBody>
      </p:sp>
      <p:sp>
        <p:nvSpPr>
          <p:cNvPr id="13" name="Text 11"/>
          <p:cNvSpPr/>
          <p:nvPr/>
        </p:nvSpPr>
        <p:spPr>
          <a:xfrm>
            <a:off x="502920" y="26060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4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 &amp; Entity Linking für historische Dokumente</a:t>
            </a:r>
            <a:endParaRPr lang="de-DE" sz="1400" noProof="0" dirty="0"/>
          </a:p>
        </p:txBody>
      </p:sp>
      <p:sp>
        <p:nvSpPr>
          <p:cNvPr id="14" name="Shape 12"/>
          <p:cNvSpPr/>
          <p:nvPr/>
        </p:nvSpPr>
        <p:spPr>
          <a:xfrm>
            <a:off x="502920" y="2542032"/>
            <a:ext cx="13716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5" name="Text 13"/>
          <p:cNvSpPr/>
          <p:nvPr/>
        </p:nvSpPr>
        <p:spPr>
          <a:xfrm>
            <a:off x="502920" y="3111793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3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Phillip Röhl</a:t>
            </a:r>
          </a:p>
          <a:p>
            <a:pPr marL="0" indent="0">
              <a:buNone/>
            </a:pPr>
            <a:r>
              <a:rPr lang="de-DE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01.04.2026</a:t>
            </a:r>
            <a:endParaRPr lang="de-DE" sz="1300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09D2EE7-C197-D64A-F1AC-9ED9C88ADB89}"/>
              </a:ext>
            </a:extLst>
          </p:cNvPr>
          <p:cNvGrpSpPr/>
          <p:nvPr/>
        </p:nvGrpSpPr>
        <p:grpSpPr>
          <a:xfrm>
            <a:off x="172364" y="0"/>
            <a:ext cx="8971636" cy="849937"/>
            <a:chOff x="172364" y="0"/>
            <a:chExt cx="11847272" cy="112236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D66F64B-04A4-B617-4F62-2A78BBF9A08C}"/>
                </a:ext>
              </a:extLst>
            </p:cNvPr>
            <p:cNvGrpSpPr/>
            <p:nvPr/>
          </p:nvGrpSpPr>
          <p:grpSpPr>
            <a:xfrm>
              <a:off x="9316363" y="0"/>
              <a:ext cx="2703273" cy="1122363"/>
              <a:chOff x="9316363" y="0"/>
              <a:chExt cx="2703273" cy="1122363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B4536EA1-68C2-2EAE-18A3-E658B22079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68000" y="96528"/>
                <a:ext cx="1351636" cy="1025835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6A0F274A-28F1-914C-10B0-15F189F7A1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16363" y="344522"/>
                <a:ext cx="1351636" cy="520563"/>
              </a:xfrm>
              <a:prstGeom prst="rect">
                <a:avLst/>
              </a:prstGeom>
            </p:spPr>
          </p:pic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E15D24D-93BE-4074-4B60-2FF0E93BE9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68000" y="0"/>
                <a:ext cx="0" cy="112236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2070FB7-F4E6-C472-3B97-88ADD4E30E95}"/>
                </a:ext>
              </a:extLst>
            </p:cNvPr>
            <p:cNvSpPr txBox="1"/>
            <p:nvPr/>
          </p:nvSpPr>
          <p:spPr>
            <a:xfrm>
              <a:off x="907973" y="424780"/>
              <a:ext cx="5074221" cy="487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noProof="0" dirty="0"/>
                <a:t>Praktikum in Software Engineering</a:t>
              </a:r>
            </a:p>
          </p:txBody>
        </p:sp>
        <p:pic>
          <p:nvPicPr>
            <p:cNvPr id="19" name="Picture 2" descr="Hausärztinnen- und Hausärzteverband Westfalen-Lippe – Service">
              <a:extLst>
                <a:ext uri="{FF2B5EF4-FFF2-40B4-BE49-F238E27FC236}">
                  <a16:creationId xmlns:a16="http://schemas.microsoft.com/office/drawing/2014/main" id="{B65662E6-A6DB-5CFB-39F1-33948435DA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364" y="337918"/>
              <a:ext cx="666547" cy="5337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/>
          <p:nvPr/>
        </p:nvSpPr>
        <p:spPr>
          <a:xfrm>
            <a:off x="502920" y="6858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3200" noProof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Projekt</a:t>
            </a:r>
            <a:endParaRPr lang="de-DE" sz="3200" noProof="0" dirty="0"/>
          </a:p>
        </p:txBody>
      </p:sp>
      <p:sp>
        <p:nvSpPr>
          <p:cNvPr id="13" name="Shape 11"/>
          <p:cNvSpPr/>
          <p:nvPr/>
        </p:nvSpPr>
        <p:spPr>
          <a:xfrm>
            <a:off x="502920" y="1261872"/>
            <a:ext cx="109728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4" name="Shape 12"/>
          <p:cNvSpPr/>
          <p:nvPr/>
        </p:nvSpPr>
        <p:spPr>
          <a:xfrm>
            <a:off x="502920" y="1463040"/>
            <a:ext cx="3931920" cy="310896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5" name="Text 13"/>
          <p:cNvSpPr/>
          <p:nvPr/>
        </p:nvSpPr>
        <p:spPr>
          <a:xfrm>
            <a:off x="68580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3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Dodis?</a:t>
            </a:r>
            <a:endParaRPr lang="de-DE" sz="1300" noProof="0" dirty="0"/>
          </a:p>
        </p:txBody>
      </p:sp>
      <p:sp>
        <p:nvSpPr>
          <p:cNvPr id="16" name="Text 14"/>
          <p:cNvSpPr/>
          <p:nvPr/>
        </p:nvSpPr>
        <p:spPr>
          <a:xfrm>
            <a:off x="685800" y="2057400"/>
            <a:ext cx="3611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15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Diplomatische Dokumente der Schweiz (Dodis)</a:t>
            </a:r>
            <a:r>
              <a:rPr lang="de-DE" sz="115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Archiv digitalisiert historische Schweizer Aussenpolitik seit 1848. Tausende Dokumente sind verfügbar – aber die darin enthaltenen Personen, Orte und Organisationen sind noch nicht strukturiert erschlossen.</a:t>
            </a:r>
            <a:endParaRPr lang="de-DE" sz="1150" noProof="0" dirty="0"/>
          </a:p>
        </p:txBody>
      </p:sp>
      <p:sp>
        <p:nvSpPr>
          <p:cNvPr id="17" name="Shape 15"/>
          <p:cNvSpPr/>
          <p:nvPr/>
        </p:nvSpPr>
        <p:spPr>
          <a:xfrm>
            <a:off x="4846320" y="1463040"/>
            <a:ext cx="3931920" cy="310896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8" name="Shape 16"/>
          <p:cNvSpPr/>
          <p:nvPr/>
        </p:nvSpPr>
        <p:spPr>
          <a:xfrm>
            <a:off x="4846320" y="1463040"/>
            <a:ext cx="54864" cy="3108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9" name="Text 17"/>
          <p:cNvSpPr/>
          <p:nvPr/>
        </p:nvSpPr>
        <p:spPr>
          <a:xfrm>
            <a:off x="502920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3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Ziel</a:t>
            </a:r>
            <a:endParaRPr lang="de-DE" sz="1300" noProof="0" dirty="0"/>
          </a:p>
        </p:txBody>
      </p:sp>
      <p:sp>
        <p:nvSpPr>
          <p:cNvPr id="20" name="Text 18"/>
          <p:cNvSpPr/>
          <p:nvPr/>
        </p:nvSpPr>
        <p:spPr>
          <a:xfrm>
            <a:off x="5029200" y="2057400"/>
            <a:ext cx="3611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15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Pipeline</a:t>
            </a:r>
            <a:r>
              <a:rPr lang="de-DE" sz="115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für Named Entity Recognition (NER) und Entity Linking (NEL)  zum Verknüpfen von Personen, Orte, Organisationen usw.
</a:t>
            </a:r>
            <a:r>
              <a:rPr lang="de-DE" sz="115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</a:t>
            </a:r>
            <a:r>
              <a:rPr lang="de-DE" sz="115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Jede Entität (Person, Ort, Organisation, ...) in einem Dodis-Dokument wird erkannt und mit einem Wikidata-Eintrag verknüpft.</a:t>
            </a:r>
            <a:endParaRPr lang="de-DE" sz="1150" noProof="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34A3079-D543-D4EB-A6B1-A69D34193A99}"/>
              </a:ext>
            </a:extLst>
          </p:cNvPr>
          <p:cNvGrpSpPr/>
          <p:nvPr/>
        </p:nvGrpSpPr>
        <p:grpSpPr>
          <a:xfrm>
            <a:off x="172364" y="0"/>
            <a:ext cx="8971636" cy="849937"/>
            <a:chOff x="172364" y="0"/>
            <a:chExt cx="11847272" cy="1122363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16F2CAF-6310-E650-D8B3-D0E6115B1728}"/>
                </a:ext>
              </a:extLst>
            </p:cNvPr>
            <p:cNvGrpSpPr/>
            <p:nvPr/>
          </p:nvGrpSpPr>
          <p:grpSpPr>
            <a:xfrm>
              <a:off x="9316363" y="0"/>
              <a:ext cx="2703273" cy="1122363"/>
              <a:chOff x="9316363" y="0"/>
              <a:chExt cx="2703273" cy="1122363"/>
            </a:xfrm>
          </p:grpSpPr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0CFB1551-6208-ABB5-707D-E37BEF0362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68000" y="96528"/>
                <a:ext cx="1351636" cy="1025835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CB9D81A9-EB3C-93C8-F142-EC4210EC90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16363" y="344522"/>
                <a:ext cx="1351636" cy="520563"/>
              </a:xfrm>
              <a:prstGeom prst="rect">
                <a:avLst/>
              </a:prstGeom>
            </p:spPr>
          </p:pic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DABC27C7-FCD6-2CF3-FB05-FED92C2AE7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68000" y="0"/>
                <a:ext cx="0" cy="112236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FDAC7DA-9349-DF27-589B-B9A81CF62FE7}"/>
                </a:ext>
              </a:extLst>
            </p:cNvPr>
            <p:cNvSpPr txBox="1"/>
            <p:nvPr/>
          </p:nvSpPr>
          <p:spPr>
            <a:xfrm>
              <a:off x="850369" y="362916"/>
              <a:ext cx="5074221" cy="406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noProof="0" dirty="0">
                  <a:solidFill>
                    <a:schemeClr val="bg1">
                      <a:lumMod val="50000"/>
                    </a:schemeClr>
                  </a:solidFill>
                </a:rPr>
                <a:t>Praktikum in Software Engineering</a:t>
              </a:r>
            </a:p>
          </p:txBody>
        </p:sp>
        <p:pic>
          <p:nvPicPr>
            <p:cNvPr id="31" name="Picture 2" descr="Hausärztinnen- und Hausärzteverband Westfalen-Lippe – Service">
              <a:extLst>
                <a:ext uri="{FF2B5EF4-FFF2-40B4-BE49-F238E27FC236}">
                  <a16:creationId xmlns:a16="http://schemas.microsoft.com/office/drawing/2014/main" id="{1FA50644-9511-05DA-2D62-7848FC4E56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364" y="286348"/>
              <a:ext cx="666547" cy="5337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/>
          <p:nvPr/>
        </p:nvSpPr>
        <p:spPr>
          <a:xfrm>
            <a:off x="502920" y="6858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3200" noProof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Übersicht</a:t>
            </a:r>
            <a:endParaRPr lang="de-DE" sz="3200" noProof="0" dirty="0"/>
          </a:p>
        </p:txBody>
      </p:sp>
      <p:sp>
        <p:nvSpPr>
          <p:cNvPr id="13" name="Shape 11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4" name="Shape 12"/>
          <p:cNvSpPr/>
          <p:nvPr/>
        </p:nvSpPr>
        <p:spPr>
          <a:xfrm>
            <a:off x="320040" y="1508760"/>
            <a:ext cx="1783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15" name="Shape 13"/>
          <p:cNvSpPr/>
          <p:nvPr/>
        </p:nvSpPr>
        <p:spPr>
          <a:xfrm>
            <a:off x="1005840" y="1673352"/>
            <a:ext cx="411480" cy="4114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6" name="Text 14"/>
          <p:cNvSpPr/>
          <p:nvPr/>
        </p:nvSpPr>
        <p:spPr>
          <a:xfrm>
            <a:off x="1005840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4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de-DE" sz="1400" noProof="0" dirty="0"/>
          </a:p>
        </p:txBody>
      </p:sp>
      <p:sp>
        <p:nvSpPr>
          <p:cNvPr id="17" name="Text 15"/>
          <p:cNvSpPr/>
          <p:nvPr/>
        </p:nvSpPr>
        <p:spPr>
          <a:xfrm>
            <a:off x="411480" y="216712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950" b="1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download_sample.py</a:t>
            </a:r>
            <a:endParaRPr lang="de-DE" sz="950" noProof="0" dirty="0"/>
          </a:p>
        </p:txBody>
      </p:sp>
      <p:sp>
        <p:nvSpPr>
          <p:cNvPr id="18" name="Text 16"/>
          <p:cNvSpPr/>
          <p:nvPr/>
        </p:nvSpPr>
        <p:spPr>
          <a:xfrm>
            <a:off x="411480" y="2624328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05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Wikidata-Dump</a:t>
            </a:r>
            <a:endParaRPr lang="de-DE" sz="1050" noProof="0" dirty="0"/>
          </a:p>
          <a:p>
            <a:pPr marL="0" indent="0" algn="ctr">
              <a:buNone/>
            </a:pPr>
            <a:r>
              <a:rPr lang="de-DE" sz="105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herunterladen</a:t>
            </a:r>
            <a:endParaRPr lang="de-DE" sz="1050" noProof="0" dirty="0"/>
          </a:p>
        </p:txBody>
      </p:sp>
      <p:sp>
        <p:nvSpPr>
          <p:cNvPr id="19" name="Shape 17"/>
          <p:cNvSpPr/>
          <p:nvPr/>
        </p:nvSpPr>
        <p:spPr>
          <a:xfrm>
            <a:off x="2139696" y="2514600"/>
            <a:ext cx="393192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0" name="Text 18"/>
          <p:cNvSpPr/>
          <p:nvPr/>
        </p:nvSpPr>
        <p:spPr>
          <a:xfrm>
            <a:off x="2350008" y="231343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800" noProof="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de-DE" sz="1800" noProof="0" dirty="0"/>
          </a:p>
        </p:txBody>
      </p:sp>
      <p:sp>
        <p:nvSpPr>
          <p:cNvPr id="21" name="Shape 19"/>
          <p:cNvSpPr/>
          <p:nvPr/>
        </p:nvSpPr>
        <p:spPr>
          <a:xfrm>
            <a:off x="2359152" y="1508760"/>
            <a:ext cx="1783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22" name="Shape 20"/>
          <p:cNvSpPr/>
          <p:nvPr/>
        </p:nvSpPr>
        <p:spPr>
          <a:xfrm>
            <a:off x="3044952" y="1673352"/>
            <a:ext cx="411480" cy="4114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3" name="Text 21"/>
          <p:cNvSpPr/>
          <p:nvPr/>
        </p:nvSpPr>
        <p:spPr>
          <a:xfrm>
            <a:off x="3044952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4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de-DE" sz="1400" noProof="0" dirty="0"/>
          </a:p>
        </p:txBody>
      </p:sp>
      <p:sp>
        <p:nvSpPr>
          <p:cNvPr id="24" name="Text 22"/>
          <p:cNvSpPr/>
          <p:nvPr/>
        </p:nvSpPr>
        <p:spPr>
          <a:xfrm>
            <a:off x="2450592" y="216712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950" b="1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filter_wikidata.py</a:t>
            </a:r>
            <a:endParaRPr lang="de-DE" sz="950" noProof="0" dirty="0"/>
          </a:p>
        </p:txBody>
      </p:sp>
      <p:sp>
        <p:nvSpPr>
          <p:cNvPr id="25" name="Text 23"/>
          <p:cNvSpPr/>
          <p:nvPr/>
        </p:nvSpPr>
        <p:spPr>
          <a:xfrm>
            <a:off x="2450592" y="2624328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05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 Entitäten</a:t>
            </a:r>
            <a:endParaRPr lang="de-DE" sz="1050" noProof="0" dirty="0"/>
          </a:p>
          <a:p>
            <a:pPr marL="0" indent="0" algn="ctr">
              <a:buNone/>
            </a:pPr>
            <a:r>
              <a:rPr lang="de-DE" sz="105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filtern &amp; in DB speichern</a:t>
            </a:r>
            <a:endParaRPr lang="de-DE" sz="1050" noProof="0" dirty="0"/>
          </a:p>
        </p:txBody>
      </p:sp>
      <p:sp>
        <p:nvSpPr>
          <p:cNvPr id="26" name="Shape 24"/>
          <p:cNvSpPr/>
          <p:nvPr/>
        </p:nvSpPr>
        <p:spPr>
          <a:xfrm>
            <a:off x="4178808" y="2514600"/>
            <a:ext cx="393192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7" name="Text 25"/>
          <p:cNvSpPr/>
          <p:nvPr/>
        </p:nvSpPr>
        <p:spPr>
          <a:xfrm>
            <a:off x="4389120" y="231343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800" noProof="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de-DE" sz="1800" noProof="0" dirty="0"/>
          </a:p>
        </p:txBody>
      </p:sp>
      <p:sp>
        <p:nvSpPr>
          <p:cNvPr id="28" name="Shape 26"/>
          <p:cNvSpPr/>
          <p:nvPr/>
        </p:nvSpPr>
        <p:spPr>
          <a:xfrm>
            <a:off x="4398264" y="1508760"/>
            <a:ext cx="1783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29" name="Shape 27"/>
          <p:cNvSpPr/>
          <p:nvPr/>
        </p:nvSpPr>
        <p:spPr>
          <a:xfrm>
            <a:off x="5084064" y="1673352"/>
            <a:ext cx="411480" cy="4114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30" name="Text 28"/>
          <p:cNvSpPr/>
          <p:nvPr/>
        </p:nvSpPr>
        <p:spPr>
          <a:xfrm>
            <a:off x="5084064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4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de-DE" sz="1400" noProof="0" dirty="0"/>
          </a:p>
        </p:txBody>
      </p:sp>
      <p:sp>
        <p:nvSpPr>
          <p:cNvPr id="31" name="Text 29"/>
          <p:cNvSpPr/>
          <p:nvPr/>
        </p:nvSpPr>
        <p:spPr>
          <a:xfrm>
            <a:off x="4489704" y="216712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950" b="1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build_kb.py</a:t>
            </a:r>
            <a:endParaRPr lang="de-DE" sz="950" noProof="0" dirty="0"/>
          </a:p>
        </p:txBody>
      </p:sp>
      <p:sp>
        <p:nvSpPr>
          <p:cNvPr id="32" name="Text 30"/>
          <p:cNvSpPr/>
          <p:nvPr/>
        </p:nvSpPr>
        <p:spPr>
          <a:xfrm>
            <a:off x="4489704" y="2624328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05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Knowledge</a:t>
            </a:r>
            <a:endParaRPr lang="de-DE" sz="1050" noProof="0" dirty="0"/>
          </a:p>
          <a:p>
            <a:pPr marL="0" indent="0" algn="ctr">
              <a:buNone/>
            </a:pPr>
            <a:r>
              <a:rPr lang="de-DE" sz="105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aufbauen</a:t>
            </a:r>
            <a:endParaRPr lang="de-DE" sz="1050" noProof="0" dirty="0"/>
          </a:p>
        </p:txBody>
      </p:sp>
      <p:sp>
        <p:nvSpPr>
          <p:cNvPr id="33" name="Shape 31"/>
          <p:cNvSpPr/>
          <p:nvPr/>
        </p:nvSpPr>
        <p:spPr>
          <a:xfrm>
            <a:off x="6217920" y="2514600"/>
            <a:ext cx="393192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34" name="Text 32"/>
          <p:cNvSpPr/>
          <p:nvPr/>
        </p:nvSpPr>
        <p:spPr>
          <a:xfrm>
            <a:off x="6428232" y="231343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800" noProof="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de-DE" sz="1800" noProof="0" dirty="0"/>
          </a:p>
        </p:txBody>
      </p:sp>
      <p:sp>
        <p:nvSpPr>
          <p:cNvPr id="35" name="Shape 33"/>
          <p:cNvSpPr/>
          <p:nvPr/>
        </p:nvSpPr>
        <p:spPr>
          <a:xfrm>
            <a:off x="6437376" y="1508760"/>
            <a:ext cx="1783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36" name="Shape 34"/>
          <p:cNvSpPr/>
          <p:nvPr/>
        </p:nvSpPr>
        <p:spPr>
          <a:xfrm>
            <a:off x="7123176" y="1673352"/>
            <a:ext cx="411480" cy="4114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37" name="Text 35"/>
          <p:cNvSpPr/>
          <p:nvPr/>
        </p:nvSpPr>
        <p:spPr>
          <a:xfrm>
            <a:off x="7123176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4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de-DE" sz="1400" noProof="0" dirty="0"/>
          </a:p>
        </p:txBody>
      </p:sp>
      <p:sp>
        <p:nvSpPr>
          <p:cNvPr id="38" name="Text 36"/>
          <p:cNvSpPr/>
          <p:nvPr/>
        </p:nvSpPr>
        <p:spPr>
          <a:xfrm>
            <a:off x="6528816" y="216712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950" b="1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train_NEL.py</a:t>
            </a:r>
            <a:endParaRPr lang="de-DE" sz="950" noProof="0" dirty="0"/>
          </a:p>
        </p:txBody>
      </p:sp>
      <p:sp>
        <p:nvSpPr>
          <p:cNvPr id="39" name="Text 37"/>
          <p:cNvSpPr/>
          <p:nvPr/>
        </p:nvSpPr>
        <p:spPr>
          <a:xfrm>
            <a:off x="6528816" y="2624328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05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Linker</a:t>
            </a:r>
            <a:endParaRPr lang="de-DE" sz="1050" noProof="0" dirty="0"/>
          </a:p>
          <a:p>
            <a:pPr marL="0" indent="0" algn="ctr">
              <a:buNone/>
            </a:pPr>
            <a:r>
              <a:rPr lang="de-DE" sz="105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trainieren</a:t>
            </a:r>
            <a:endParaRPr lang="de-DE" sz="1050" noProof="0" dirty="0"/>
          </a:p>
        </p:txBody>
      </p:sp>
      <p:sp>
        <p:nvSpPr>
          <p:cNvPr id="40" name="Text 38"/>
          <p:cNvSpPr/>
          <p:nvPr/>
        </p:nvSpPr>
        <p:spPr>
          <a:xfrm>
            <a:off x="502920" y="3794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000" i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 (144 GB)  →  SQLite DB  →  spaCy KB  →  trainiertes NEL-Modell</a:t>
            </a:r>
            <a:endParaRPr lang="de-DE" sz="10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/>
          <p:nvPr/>
        </p:nvSpPr>
        <p:spPr>
          <a:xfrm>
            <a:off x="502920" y="65836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800" noProof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download_sample.py</a:t>
            </a:r>
            <a:endParaRPr lang="de-DE" sz="2800" noProof="0" dirty="0"/>
          </a:p>
        </p:txBody>
      </p:sp>
      <p:sp>
        <p:nvSpPr>
          <p:cNvPr id="13" name="Shape 11"/>
          <p:cNvSpPr/>
          <p:nvPr/>
        </p:nvSpPr>
        <p:spPr>
          <a:xfrm>
            <a:off x="502920" y="1170432"/>
            <a:ext cx="10058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" y="12618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050" i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Wikidata-Dump herunterladen (wikidata_sample.json.gz)</a:t>
            </a:r>
            <a:endParaRPr lang="de-DE" sz="1050" noProof="0" dirty="0"/>
          </a:p>
        </p:txBody>
      </p:sp>
      <p:sp>
        <p:nvSpPr>
          <p:cNvPr id="15" name="Text 13"/>
          <p:cNvSpPr/>
          <p:nvPr/>
        </p:nvSpPr>
        <p:spPr>
          <a:xfrm>
            <a:off x="502920" y="1627632"/>
            <a:ext cx="4160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Lädt den vollständigen Wikidata-Dump von dumps.wikimedia.org herunter</a:t>
            </a:r>
            <a:endParaRPr lang="de-DE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Konfigurierbare Download-Grösse (DOWNLOAD_SIZE_MB) für Tests</a:t>
            </a:r>
          </a:p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de-DE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Resume-fähig: HTTP Range-Header ermöglicht Fortsetzen nach Abbruch</a:t>
            </a:r>
            <a:endParaRPr lang="de-DE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Wiederholung bei Netzwerkfehler (bis zu 10 Versuche)</a:t>
            </a:r>
            <a:endParaRPr lang="de-DE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Fortschrittsanzeige in MB, Ausgabe als .json.gz Datei</a:t>
            </a:r>
            <a:endParaRPr lang="de-DE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4937760" y="1627632"/>
            <a:ext cx="3886200" cy="3108960"/>
          </a:xfrm>
          <a:prstGeom prst="rect">
            <a:avLst/>
          </a:prstGeom>
          <a:solidFill>
            <a:srgbClr val="121314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88C6DA9-53D1-4846-BF45-F7129E81BFC9}"/>
              </a:ext>
            </a:extLst>
          </p:cNvPr>
          <p:cNvGrpSpPr/>
          <p:nvPr/>
        </p:nvGrpSpPr>
        <p:grpSpPr>
          <a:xfrm>
            <a:off x="172364" y="0"/>
            <a:ext cx="8971636" cy="849937"/>
            <a:chOff x="172364" y="0"/>
            <a:chExt cx="11847272" cy="1122363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2062E83-F56B-8382-2692-6F7387A987AE}"/>
                </a:ext>
              </a:extLst>
            </p:cNvPr>
            <p:cNvGrpSpPr/>
            <p:nvPr/>
          </p:nvGrpSpPr>
          <p:grpSpPr>
            <a:xfrm>
              <a:off x="9316363" y="0"/>
              <a:ext cx="2703273" cy="1122363"/>
              <a:chOff x="9316363" y="0"/>
              <a:chExt cx="2703273" cy="1122363"/>
            </a:xfrm>
          </p:grpSpPr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2A760992-AD02-0986-BACC-F879C9E4B4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68000" y="96528"/>
                <a:ext cx="1351636" cy="1025835"/>
              </a:xfrm>
              <a:prstGeom prst="rect">
                <a:avLst/>
              </a:prstGeom>
            </p:spPr>
          </p:pic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D062B8B7-3C2C-DE8B-FBB9-971A30CEDA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16363" y="344522"/>
                <a:ext cx="1351636" cy="520563"/>
              </a:xfrm>
              <a:prstGeom prst="rect">
                <a:avLst/>
              </a:prstGeom>
            </p:spPr>
          </p:pic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C4C17DDE-44B9-37AF-7BE4-E295357649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68000" y="0"/>
                <a:ext cx="0" cy="112236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438A200-3585-384B-4C97-0750E8A29822}"/>
                </a:ext>
              </a:extLst>
            </p:cNvPr>
            <p:cNvSpPr txBox="1"/>
            <p:nvPr/>
          </p:nvSpPr>
          <p:spPr>
            <a:xfrm>
              <a:off x="850369" y="362916"/>
              <a:ext cx="5074221" cy="406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noProof="0" dirty="0">
                  <a:solidFill>
                    <a:schemeClr val="bg1">
                      <a:lumMod val="50000"/>
                    </a:schemeClr>
                  </a:solidFill>
                </a:rPr>
                <a:t>Praktikum in Software Engineering</a:t>
              </a:r>
            </a:p>
          </p:txBody>
        </p:sp>
        <p:pic>
          <p:nvPicPr>
            <p:cNvPr id="35" name="Picture 2" descr="Hausärztinnen- und Hausärzteverband Westfalen-Lippe – Service">
              <a:extLst>
                <a:ext uri="{FF2B5EF4-FFF2-40B4-BE49-F238E27FC236}">
                  <a16:creationId xmlns:a16="http://schemas.microsoft.com/office/drawing/2014/main" id="{2397B64B-1536-C52C-632B-A11F2E4B25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364" y="286348"/>
              <a:ext cx="666547" cy="5337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642BF2E0-5207-F306-A0C7-1FB7B0BF8E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9074" y="1703336"/>
            <a:ext cx="3080566" cy="28441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/>
          <p:nvPr/>
        </p:nvSpPr>
        <p:spPr>
          <a:xfrm>
            <a:off x="502920" y="65836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800" noProof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filter_wikidata.py</a:t>
            </a:r>
            <a:endParaRPr lang="de-DE" sz="2800" noProof="0" dirty="0"/>
          </a:p>
        </p:txBody>
      </p:sp>
      <p:sp>
        <p:nvSpPr>
          <p:cNvPr id="13" name="Shape 11"/>
          <p:cNvSpPr/>
          <p:nvPr/>
        </p:nvSpPr>
        <p:spPr>
          <a:xfrm>
            <a:off x="502920" y="1170432"/>
            <a:ext cx="10058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" y="12618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050" i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 Entitäten filtern und in SQLite speichern</a:t>
            </a:r>
            <a:endParaRPr lang="de-DE" sz="1050" noProof="0" dirty="0"/>
          </a:p>
        </p:txBody>
      </p:sp>
      <p:sp>
        <p:nvSpPr>
          <p:cNvPr id="15" name="Text 13"/>
          <p:cNvSpPr/>
          <p:nvPr/>
        </p:nvSpPr>
        <p:spPr>
          <a:xfrm>
            <a:off x="502920" y="1627632"/>
            <a:ext cx="4160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SPARQL-Abfrage holt alle Unterklassen von Personen, Orten, Organisationen</a:t>
            </a:r>
            <a:endParaRPr lang="de-DE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Parallele Verarbeitung mit Python multiprocessing (NUM_WORKERS = cpu_count − 2)</a:t>
            </a:r>
            <a:endParaRPr lang="de-DE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Producer/Consumer-Muster: 5000 Zeilen pro Chunk (CHUNK_SIZE)</a:t>
            </a:r>
            <a:endParaRPr lang="de-DE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relevante Felder werden gespeichert: ID, Labels (de/en), Aliases, P31-Claims</a:t>
            </a:r>
            <a:endParaRPr lang="de-DE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WAL-Modus und 64 MB Cache für maximale Schreibperformance</a:t>
            </a:r>
            <a:endParaRPr lang="de-DE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dodis_wikidata.db mit allen gefilterten Entitäten</a:t>
            </a:r>
            <a:endParaRPr lang="de-DE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4937760" y="1627632"/>
            <a:ext cx="3886200" cy="3108960"/>
          </a:xfrm>
          <a:prstGeom prst="rect">
            <a:avLst/>
          </a:prstGeom>
          <a:solidFill>
            <a:srgbClr val="121314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de-DE" u="sng" noProof="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69A7869-EDEE-2EB4-0527-C667895338DC}"/>
              </a:ext>
            </a:extLst>
          </p:cNvPr>
          <p:cNvGrpSpPr/>
          <p:nvPr/>
        </p:nvGrpSpPr>
        <p:grpSpPr>
          <a:xfrm>
            <a:off x="172364" y="0"/>
            <a:ext cx="8971636" cy="849937"/>
            <a:chOff x="172364" y="0"/>
            <a:chExt cx="11847272" cy="1122363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5D0F0FB-8B6C-F138-5CC0-021A51A12FBD}"/>
                </a:ext>
              </a:extLst>
            </p:cNvPr>
            <p:cNvGrpSpPr/>
            <p:nvPr/>
          </p:nvGrpSpPr>
          <p:grpSpPr>
            <a:xfrm>
              <a:off x="9316363" y="0"/>
              <a:ext cx="2703273" cy="1122363"/>
              <a:chOff x="9316363" y="0"/>
              <a:chExt cx="2703273" cy="1122363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F850E093-BFF6-78C7-D00B-6235A6A628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68000" y="96528"/>
                <a:ext cx="1351636" cy="1025835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DF9ACF1A-19E2-89A2-AD6A-739C80C530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16363" y="344522"/>
                <a:ext cx="1351636" cy="520563"/>
              </a:xfrm>
              <a:prstGeom prst="rect">
                <a:avLst/>
              </a:prstGeom>
            </p:spPr>
          </p:pic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FF974CA8-8DBA-55D6-2F34-8B0E01B173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68000" y="0"/>
                <a:ext cx="0" cy="112236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5540606-14C7-C3AF-D207-4FA059A61A91}"/>
                </a:ext>
              </a:extLst>
            </p:cNvPr>
            <p:cNvSpPr txBox="1"/>
            <p:nvPr/>
          </p:nvSpPr>
          <p:spPr>
            <a:xfrm>
              <a:off x="850369" y="362916"/>
              <a:ext cx="5074221" cy="406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noProof="0" dirty="0">
                  <a:solidFill>
                    <a:schemeClr val="bg1">
                      <a:lumMod val="50000"/>
                    </a:schemeClr>
                  </a:solidFill>
                </a:rPr>
                <a:t>Praktikum in Software Engineering</a:t>
              </a:r>
            </a:p>
          </p:txBody>
        </p:sp>
        <p:pic>
          <p:nvPicPr>
            <p:cNvPr id="28" name="Picture 2" descr="Hausärztinnen- und Hausärzteverband Westfalen-Lippe – Service">
              <a:extLst>
                <a:ext uri="{FF2B5EF4-FFF2-40B4-BE49-F238E27FC236}">
                  <a16:creationId xmlns:a16="http://schemas.microsoft.com/office/drawing/2014/main" id="{6D1D4912-6EA5-8930-8B61-4026463B48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364" y="286348"/>
              <a:ext cx="666547" cy="5337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93CB4A9E-8E6D-F755-0C63-05BEC35534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007259"/>
            <a:ext cx="3383280" cy="23497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/>
          <p:nvPr/>
        </p:nvSpPr>
        <p:spPr>
          <a:xfrm>
            <a:off x="502920" y="65836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800" noProof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build_kb.py</a:t>
            </a:r>
            <a:endParaRPr lang="de-DE" sz="2800" noProof="0" dirty="0"/>
          </a:p>
        </p:txBody>
      </p:sp>
      <p:sp>
        <p:nvSpPr>
          <p:cNvPr id="13" name="Shape 11"/>
          <p:cNvSpPr/>
          <p:nvPr/>
        </p:nvSpPr>
        <p:spPr>
          <a:xfrm>
            <a:off x="502920" y="1170432"/>
            <a:ext cx="10058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" y="12618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050" i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Knowledgebase aufbauen</a:t>
            </a:r>
            <a:endParaRPr lang="de-DE" sz="1050" noProof="0" dirty="0"/>
          </a:p>
        </p:txBody>
      </p:sp>
      <p:sp>
        <p:nvSpPr>
          <p:cNvPr id="15" name="Text 13"/>
          <p:cNvSpPr/>
          <p:nvPr/>
        </p:nvSpPr>
        <p:spPr>
          <a:xfrm>
            <a:off x="502920" y="1627632"/>
            <a:ext cx="4160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Lädt das </a:t>
            </a:r>
            <a:r>
              <a:rPr lang="de-DE" sz="1200" noProof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Modell und erstellt eine spaCy InMemoryLookupKB (768-dim Vektoren)</a:t>
            </a:r>
            <a:endParaRPr lang="de-DE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Registriert alle Entitäts-IDs (QIDs) aus der SQLite-Datenbank</a:t>
            </a:r>
            <a:endParaRPr lang="de-DE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Sammelt Labels und Aliase auf Deutsch und Englisch</a:t>
            </a:r>
            <a:endParaRPr lang="de-DE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Alias-Map: jeder Name verweist auf bis zu 30 mögliche QIDs</a:t>
            </a:r>
            <a:endParaRPr lang="de-DE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Gleichmässige Prior-Wahrscheinlichkeit (1/n) für alle Kandidaten eines Alias</a:t>
            </a:r>
            <a:endParaRPr lang="de-DE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gespeicherte KB auf Disk für Training und Inferenz</a:t>
            </a:r>
            <a:endParaRPr lang="de-DE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4937760" y="1627632"/>
            <a:ext cx="3886200" cy="3108960"/>
          </a:xfrm>
          <a:prstGeom prst="rect">
            <a:avLst/>
          </a:prstGeom>
          <a:solidFill>
            <a:srgbClr val="121314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1AA6939-09E9-8499-0995-F6300B717A6F}"/>
              </a:ext>
            </a:extLst>
          </p:cNvPr>
          <p:cNvGrpSpPr/>
          <p:nvPr/>
        </p:nvGrpSpPr>
        <p:grpSpPr>
          <a:xfrm>
            <a:off x="172364" y="0"/>
            <a:ext cx="8971636" cy="849937"/>
            <a:chOff x="172364" y="0"/>
            <a:chExt cx="11847272" cy="112236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9AECB58-7F4A-05C4-4A34-5B807CF0C978}"/>
                </a:ext>
              </a:extLst>
            </p:cNvPr>
            <p:cNvGrpSpPr/>
            <p:nvPr/>
          </p:nvGrpSpPr>
          <p:grpSpPr>
            <a:xfrm>
              <a:off x="9316363" y="0"/>
              <a:ext cx="2703273" cy="1122363"/>
              <a:chOff x="9316363" y="0"/>
              <a:chExt cx="2703273" cy="1122363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54CB700C-7C97-D15E-1810-A11B41FCCC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68000" y="96528"/>
                <a:ext cx="1351636" cy="1025835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6F58BE75-32CE-4D56-3C76-F941103FE2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16363" y="344522"/>
                <a:ext cx="1351636" cy="520563"/>
              </a:xfrm>
              <a:prstGeom prst="rect">
                <a:avLst/>
              </a:prstGeom>
            </p:spPr>
          </p:pic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939DC7C2-7247-3950-4195-F793037B60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68000" y="0"/>
                <a:ext cx="0" cy="112236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07C583A-5132-D9B4-08A4-A53A59092A30}"/>
                </a:ext>
              </a:extLst>
            </p:cNvPr>
            <p:cNvSpPr txBox="1"/>
            <p:nvPr/>
          </p:nvSpPr>
          <p:spPr>
            <a:xfrm>
              <a:off x="850369" y="362916"/>
              <a:ext cx="5074221" cy="406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noProof="0" dirty="0">
                  <a:solidFill>
                    <a:schemeClr val="bg1">
                      <a:lumMod val="50000"/>
                    </a:schemeClr>
                  </a:solidFill>
                </a:rPr>
                <a:t>Praktikum in Software Engineering</a:t>
              </a:r>
            </a:p>
          </p:txBody>
        </p:sp>
        <p:pic>
          <p:nvPicPr>
            <p:cNvPr id="21" name="Picture 2" descr="Hausärztinnen- und Hausärzteverband Westfalen-Lippe – Service">
              <a:extLst>
                <a:ext uri="{FF2B5EF4-FFF2-40B4-BE49-F238E27FC236}">
                  <a16:creationId xmlns:a16="http://schemas.microsoft.com/office/drawing/2014/main" id="{FDCC2315-50C4-E6B2-9771-6EA915CAA1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364" y="286348"/>
              <a:ext cx="666547" cy="5337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C3B669C6-FE1D-24FD-BE59-4D12D5F864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1873" y="2001495"/>
            <a:ext cx="2668567" cy="23612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/>
          <p:nvPr/>
        </p:nvSpPr>
        <p:spPr>
          <a:xfrm>
            <a:off x="502920" y="65836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800" noProof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train_NEL.py</a:t>
            </a:r>
            <a:endParaRPr lang="de-DE" sz="2800" noProof="0" dirty="0"/>
          </a:p>
        </p:txBody>
      </p:sp>
      <p:sp>
        <p:nvSpPr>
          <p:cNvPr id="13" name="Shape 11"/>
          <p:cNvSpPr/>
          <p:nvPr/>
        </p:nvSpPr>
        <p:spPr>
          <a:xfrm>
            <a:off x="502920" y="1170432"/>
            <a:ext cx="10058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" y="12618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050" i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Linker trainieren mit annotierten Dodis-Daten</a:t>
            </a:r>
            <a:endParaRPr lang="de-DE" sz="1050" noProof="0" dirty="0"/>
          </a:p>
        </p:txBody>
      </p:sp>
      <p:sp>
        <p:nvSpPr>
          <p:cNvPr id="15" name="Text 13"/>
          <p:cNvSpPr/>
          <p:nvPr/>
        </p:nvSpPr>
        <p:spPr>
          <a:xfrm>
            <a:off x="502920" y="1627632"/>
            <a:ext cx="4160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Lädt das spaCy-Basismodell und die vorbereitete Knowledge Base</a:t>
            </a:r>
            <a:endParaRPr lang="de-DE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Fügt eine entity_linker Komponente zur Pipeline hinzu</a:t>
            </a:r>
            <a:endParaRPr lang="de-DE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Trainings-JSON enthält Text + Annotationen: (start, end, Wikidata-QID)</a:t>
            </a:r>
            <a:endParaRPr lang="de-DE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Konvertierung in spaCy Example-Objekte für das Training</a:t>
            </a:r>
            <a:endParaRPr lang="de-DE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Iteratives Training mit nlp.update() und Ausgabe der Loss-Werte</a:t>
            </a:r>
            <a:endParaRPr lang="de-DE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vollständige trainierte spaCy-Pipeline gespeichert auf Disk</a:t>
            </a:r>
            <a:endParaRPr lang="de-DE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4937760" y="1627632"/>
            <a:ext cx="3886200" cy="3108960"/>
          </a:xfrm>
          <a:prstGeom prst="rect">
            <a:avLst/>
          </a:prstGeom>
          <a:solidFill>
            <a:srgbClr val="121314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00FAF82-03DA-859C-FFFB-B8360679986D}"/>
              </a:ext>
            </a:extLst>
          </p:cNvPr>
          <p:cNvGrpSpPr/>
          <p:nvPr/>
        </p:nvGrpSpPr>
        <p:grpSpPr>
          <a:xfrm>
            <a:off x="172364" y="0"/>
            <a:ext cx="8971636" cy="849937"/>
            <a:chOff x="172364" y="0"/>
            <a:chExt cx="11847272" cy="112236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E6D2BF1-E1B0-0D4A-27D6-DDEFA15EB4DE}"/>
                </a:ext>
              </a:extLst>
            </p:cNvPr>
            <p:cNvGrpSpPr/>
            <p:nvPr/>
          </p:nvGrpSpPr>
          <p:grpSpPr>
            <a:xfrm>
              <a:off x="9316363" y="0"/>
              <a:ext cx="2703273" cy="1122363"/>
              <a:chOff x="9316363" y="0"/>
              <a:chExt cx="2703273" cy="1122363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D3EA3724-E6FD-0B65-6C82-A82BE832B8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68000" y="96528"/>
                <a:ext cx="1351636" cy="1025835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FF80CB60-CE4B-AC7C-BD69-203502E143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16363" y="344522"/>
                <a:ext cx="1351636" cy="520563"/>
              </a:xfrm>
              <a:prstGeom prst="rect">
                <a:avLst/>
              </a:prstGeom>
            </p:spPr>
          </p:pic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680C2C87-4C6E-5EDA-C63B-6DE8F1D6C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68000" y="0"/>
                <a:ext cx="0" cy="112236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93A86D1-F4E5-C99B-D8B4-1C3B74F9D127}"/>
                </a:ext>
              </a:extLst>
            </p:cNvPr>
            <p:cNvSpPr txBox="1"/>
            <p:nvPr/>
          </p:nvSpPr>
          <p:spPr>
            <a:xfrm>
              <a:off x="850369" y="362916"/>
              <a:ext cx="5074221" cy="406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noProof="0" dirty="0">
                  <a:solidFill>
                    <a:schemeClr val="bg1">
                      <a:lumMod val="50000"/>
                    </a:schemeClr>
                  </a:solidFill>
                </a:rPr>
                <a:t>Praktikum in Software Engineering</a:t>
              </a:r>
            </a:p>
          </p:txBody>
        </p:sp>
        <p:pic>
          <p:nvPicPr>
            <p:cNvPr id="21" name="Picture 2" descr="Hausärztinnen- und Hausärzteverband Westfalen-Lippe – Service">
              <a:extLst>
                <a:ext uri="{FF2B5EF4-FFF2-40B4-BE49-F238E27FC236}">
                  <a16:creationId xmlns:a16="http://schemas.microsoft.com/office/drawing/2014/main" id="{5E60F315-598B-2797-30C2-C84404E965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364" y="286348"/>
              <a:ext cx="666547" cy="5337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CB0D73BC-0924-EF0F-B85B-EE59BF67C9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8305" y="2052561"/>
            <a:ext cx="2567845" cy="22591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0987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</Words>
  <Application>Microsoft Office PowerPoint</Application>
  <PresentationFormat>Bildschirmpräsentation (16:9)</PresentationFormat>
  <Paragraphs>74</Paragraphs>
  <Slides>8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Dodis D4 Demo</dc:title>
  <dc:subject>PptxGenJS Presentation</dc:subject>
  <dc:creator>PptxGenJS</dc:creator>
  <cp:lastModifiedBy>Röhl, Phillip (STUDENTS)</cp:lastModifiedBy>
  <cp:revision>6</cp:revision>
  <dcterms:created xsi:type="dcterms:W3CDTF">2026-03-31T07:44:28Z</dcterms:created>
  <dcterms:modified xsi:type="dcterms:W3CDTF">2026-04-01T11:24:55Z</dcterms:modified>
</cp:coreProperties>
</file>